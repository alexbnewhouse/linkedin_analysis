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 · USER ARRIVES"/>
          <p:cNvSpPr/>
          <p:nvPr/>
        </p:nvSpPr>
        <p:spPr>
          <a:xfrm>
            <a:off x="274320" y="82296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1">
                <a:solidFill>
                  <a:srgbClr val="1B1A2E"/>
                </a:solidFill>
                <a:latin typeface="Calibri"/>
              </a:rPr>
              <a:t>USER ARRIVES</a:t>
            </a:r>
          </a:p>
        </p:txBody>
      </p:sp>
      <p:sp>
        <p:nvSpPr>
          <p:cNvPr id="3" name="B · READS entry points,"/>
          <p:cNvSpPr/>
          <p:nvPr/>
        </p:nvSpPr>
        <p:spPr>
          <a:xfrm>
            <a:off x="1965960" y="708660"/>
            <a:ext cx="2194560" cy="68580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READS entry points,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optionally explores overall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possibility space of careers</a:t>
            </a:r>
          </a:p>
        </p:txBody>
      </p:sp>
      <p:sp>
        <p:nvSpPr>
          <p:cNvPr id="4" name="C · narrow it down,"/>
          <p:cNvSpPr/>
          <p:nvPr/>
        </p:nvSpPr>
        <p:spPr>
          <a:xfrm>
            <a:off x="4526280" y="640080"/>
            <a:ext cx="2651760" cy="822960"/>
          </a:xfrm>
          <a:prstGeom prst="diamond">
            <a:avLst/>
          </a:prstGeom>
          <a:solidFill>
            <a:srgbClr val="FBF0E3"/>
          </a:solidFill>
          <a:ln w="12700">
            <a:solidFill>
              <a:srgbClr val="9A6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900" b="0">
                <a:solidFill>
                  <a:srgbClr val="3D2A12"/>
                </a:solidFill>
                <a:latin typeface="Calibri"/>
              </a:rPr>
              <a:t>narrow it down,</a:t>
            </a:r>
          </a:p>
          <a:p>
            <a:pPr algn="ctr"/>
            <a:r>
              <a:rPr sz="900" b="0">
                <a:solidFill>
                  <a:srgbClr val="3D2A12"/>
                </a:solidFill>
                <a:latin typeface="Calibri"/>
              </a:rPr>
              <a:t>or keep looking around</a:t>
            </a:r>
          </a:p>
        </p:txBody>
      </p:sp>
      <p:sp>
        <p:nvSpPr>
          <p:cNvPr id="5" name="D · WHERE TO START"/>
          <p:cNvSpPr/>
          <p:nvPr/>
        </p:nvSpPr>
        <p:spPr>
          <a:xfrm>
            <a:off x="1920240" y="1874519"/>
            <a:ext cx="3931920" cy="1188720"/>
          </a:xfrm>
          <a:prstGeom prst="diamond">
            <a:avLst/>
          </a:prstGeom>
          <a:solidFill>
            <a:srgbClr val="FBF0E3"/>
          </a:solidFill>
          <a:ln w="12700">
            <a:solidFill>
              <a:srgbClr val="9A6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900" b="1">
                <a:solidFill>
                  <a:srgbClr val="3D2A12"/>
                </a:solidFill>
                <a:latin typeface="Calibri"/>
              </a:rPr>
              <a:t>WHERE TO START</a:t>
            </a:r>
          </a:p>
          <a:p>
            <a:pPr algn="ctr"/>
            <a:r>
              <a:rPr sz="900" b="0">
                <a:solidFill>
                  <a:srgbClr val="3D2A12"/>
                </a:solidFill>
                <a:latin typeface="Calibri"/>
              </a:rPr>
              <a:t>my major</a:t>
            </a:r>
          </a:p>
          <a:p>
            <a:pPr algn="ctr"/>
            <a:r>
              <a:rPr sz="900" b="0">
                <a:solidFill>
                  <a:srgbClr val="3D2A12"/>
                </a:solidFill>
                <a:latin typeface="Calibri"/>
              </a:rPr>
              <a:t>work I would want to be doing</a:t>
            </a:r>
          </a:p>
          <a:p>
            <a:pPr algn="ctr"/>
            <a:r>
              <a:rPr sz="900" b="0">
                <a:solidFill>
                  <a:srgbClr val="3D2A12"/>
                </a:solidFill>
                <a:latin typeface="Calibri"/>
              </a:rPr>
              <a:t>a job I am already curious about</a:t>
            </a:r>
          </a:p>
        </p:txBody>
      </p:sp>
      <p:sp>
        <p:nvSpPr>
          <p:cNvPr id="6" name="G · WHO IS ALREADY DOING IT"/>
          <p:cNvSpPr/>
          <p:nvPr/>
        </p:nvSpPr>
        <p:spPr>
          <a:xfrm>
            <a:off x="274320" y="3474720"/>
            <a:ext cx="2331720" cy="73152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1">
                <a:solidFill>
                  <a:srgbClr val="1B1A2E"/>
                </a:solidFill>
                <a:latin typeface="Calibri"/>
              </a:rPr>
              <a:t>WHO IS ALREADY DOING IT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what the people in this job studied,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and where they began</a:t>
            </a:r>
          </a:p>
        </p:txBody>
      </p:sp>
      <p:sp>
        <p:nvSpPr>
          <p:cNvPr id="7" name="E · CHALLENGES EXPECTATIONS:"/>
          <p:cNvSpPr/>
          <p:nvPr/>
        </p:nvSpPr>
        <p:spPr>
          <a:xfrm>
            <a:off x="2880360" y="347472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1">
                <a:solidFill>
                  <a:srgbClr val="1B1A2E"/>
                </a:solidFill>
                <a:latin typeface="Calibri"/>
              </a:rPr>
              <a:t>CHALLENGES EXPECTATIONS: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the largest single kind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of work is about one in eight</a:t>
            </a:r>
          </a:p>
        </p:txBody>
      </p:sp>
      <p:sp>
        <p:nvSpPr>
          <p:cNvPr id="8" name="F · WHERE COULD I GO"/>
          <p:cNvSpPr/>
          <p:nvPr/>
        </p:nvSpPr>
        <p:spPr>
          <a:xfrm>
            <a:off x="5074920" y="3474720"/>
            <a:ext cx="2148840" cy="73152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1">
                <a:solidFill>
                  <a:srgbClr val="1B1A2E"/>
                </a:solidFill>
                <a:latin typeface="Calibri"/>
              </a:rPr>
              <a:t>WHERE COULD I GO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where people who started here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actually were, one to ten years later</a:t>
            </a:r>
          </a:p>
        </p:txBody>
      </p:sp>
      <p:sp>
        <p:nvSpPr>
          <p:cNvPr id="9" name="H · open a kind of work"/>
          <p:cNvSpPr/>
          <p:nvPr/>
        </p:nvSpPr>
        <p:spPr>
          <a:xfrm>
            <a:off x="2560320" y="4663440"/>
            <a:ext cx="2651760" cy="777240"/>
          </a:xfrm>
          <a:prstGeom prst="diamond">
            <a:avLst/>
          </a:prstGeom>
          <a:solidFill>
            <a:srgbClr val="FBF0E3"/>
          </a:solidFill>
          <a:ln w="12700">
            <a:solidFill>
              <a:srgbClr val="9A6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900" b="0">
                <a:solidFill>
                  <a:srgbClr val="3D2A12"/>
                </a:solidFill>
                <a:latin typeface="Calibri"/>
              </a:rPr>
              <a:t>open a kind of work</a:t>
            </a:r>
          </a:p>
          <a:p>
            <a:pPr algn="ctr"/>
            <a:r>
              <a:rPr sz="900" b="0">
                <a:solidFill>
                  <a:srgbClr val="3D2A12"/>
                </a:solidFill>
                <a:latin typeface="Calibri"/>
              </a:rPr>
              <a:t>that looks interesting</a:t>
            </a:r>
          </a:p>
        </p:txBody>
      </p:sp>
      <p:sp>
        <p:nvSpPr>
          <p:cNvPr id="10" name="I · HOW WOULD I GET THERE"/>
          <p:cNvSpPr/>
          <p:nvPr/>
        </p:nvSpPr>
        <p:spPr>
          <a:xfrm>
            <a:off x="1783080" y="5760720"/>
            <a:ext cx="4206240" cy="73152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1">
                <a:solidFill>
                  <a:srgbClr val="1B1A2E"/>
                </a:solidFill>
                <a:latin typeface="Calibri"/>
              </a:rPr>
              <a:t>HOW WOULD I GET THERE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the jobs people held on the way in, how long it took,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what they studied and carried, and who employed them</a:t>
            </a:r>
          </a:p>
        </p:txBody>
      </p:sp>
      <p:sp>
        <p:nvSpPr>
          <p:cNvPr id="11" name="J · show me only people"/>
          <p:cNvSpPr/>
          <p:nvPr/>
        </p:nvSpPr>
        <p:spPr>
          <a:xfrm>
            <a:off x="2468880" y="6766560"/>
            <a:ext cx="2834640" cy="777240"/>
          </a:xfrm>
          <a:prstGeom prst="diamond">
            <a:avLst/>
          </a:prstGeom>
          <a:solidFill>
            <a:srgbClr val="FBF0E3"/>
          </a:solidFill>
          <a:ln w="12700">
            <a:solidFill>
              <a:srgbClr val="9A6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>
            <a:noAutofit/>
          </a:bodyPr>
          <a:lstStyle/>
          <a:p>
            <a:pPr algn="ctr"/>
            <a:r>
              <a:rPr sz="900" b="0">
                <a:solidFill>
                  <a:srgbClr val="3D2A12"/>
                </a:solidFill>
                <a:latin typeface="Calibri"/>
              </a:rPr>
              <a:t>show me only people</a:t>
            </a:r>
          </a:p>
          <a:p>
            <a:pPr algn="ctr"/>
            <a:r>
              <a:rPr sz="900" b="0">
                <a:solidFill>
                  <a:srgbClr val="3D2A12"/>
                </a:solidFill>
                <a:latin typeface="Calibri"/>
              </a:rPr>
              <a:t>who studied what I study</a:t>
            </a:r>
          </a:p>
        </p:txBody>
      </p:sp>
      <p:sp>
        <p:nvSpPr>
          <p:cNvPr id="12" name="P · Any job, employer, major or certificate on the screen"/>
          <p:cNvSpPr/>
          <p:nvPr/>
        </p:nvSpPr>
        <p:spPr>
          <a:xfrm>
            <a:off x="5577840" y="6766560"/>
            <a:ext cx="1463040" cy="77724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Any job, employer, major or certificate on the screen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becomes the new starting point.</a:t>
            </a:r>
          </a:p>
        </p:txBody>
      </p:sp>
      <p:sp>
        <p:nvSpPr>
          <p:cNvPr id="13" name="L · TOO FEW TO DESCRIBE"/>
          <p:cNvSpPr/>
          <p:nvPr/>
        </p:nvSpPr>
        <p:spPr>
          <a:xfrm>
            <a:off x="274320" y="8092440"/>
            <a:ext cx="2926080" cy="685800"/>
          </a:xfrm>
          <a:prstGeom prst="roundRect">
            <a:avLst>
              <a:gd name="adj" fmla="val 12000"/>
            </a:avLst>
          </a:prstGeom>
          <a:solidFill>
            <a:srgbClr val="F7E6DC"/>
          </a:solidFill>
          <a:ln w="12700">
            <a:solidFill>
              <a:srgbClr val="B45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1">
                <a:solidFill>
                  <a:srgbClr val="3A2318"/>
                </a:solidFill>
                <a:latin typeface="Calibri"/>
              </a:rPr>
              <a:t>TOO FEW TO DESCRIBE</a:t>
            </a:r>
          </a:p>
          <a:p>
            <a:pPr algn="ctr"/>
            <a:r>
              <a:rPr sz="900" b="0">
                <a:solidFill>
                  <a:srgbClr val="3A2318"/>
                </a:solidFill>
                <a:latin typeface="Calibri"/>
              </a:rPr>
              <a:t>reads the wider answer instead, and narrative</a:t>
            </a:r>
          </a:p>
          <a:p>
            <a:pPr algn="ctr"/>
            <a:r>
              <a:rPr sz="900" b="0">
                <a:solidFill>
                  <a:srgbClr val="3A2318"/>
                </a:solidFill>
                <a:latin typeface="Calibri"/>
              </a:rPr>
              <a:t>explaining proximate paths</a:t>
            </a:r>
          </a:p>
        </p:txBody>
      </p:sp>
      <p:sp>
        <p:nvSpPr>
          <p:cNvPr id="14" name="K · READS: the same answer for a smaller group,"/>
          <p:cNvSpPr/>
          <p:nvPr/>
        </p:nvSpPr>
        <p:spPr>
          <a:xfrm>
            <a:off x="3566160" y="809244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EEF0F8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READS: the same answer for a smaller group,</a:t>
            </a:r>
          </a:p>
          <a:p>
            <a:pPr algn="ctr"/>
            <a:r>
              <a:rPr sz="900" b="0">
                <a:solidFill>
                  <a:srgbClr val="1B1A2E"/>
                </a:solidFill>
                <a:latin typeface="Calibri"/>
              </a:rPr>
              <a:t>with the number of people it rests on, on screen</a:t>
            </a:r>
          </a:p>
        </p:txBody>
      </p:sp>
      <p:sp>
        <p:nvSpPr>
          <p:cNvPr id="15" name="M · LEAVES WITH"/>
          <p:cNvSpPr/>
          <p:nvPr/>
        </p:nvSpPr>
        <p:spPr>
          <a:xfrm>
            <a:off x="2514600" y="9121140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E7F2EA"/>
          </a:solidFill>
          <a:ln w="12700">
            <a:solidFill>
              <a:srgbClr val="3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1">
                <a:solidFill>
                  <a:srgbClr val="16301F"/>
                </a:solidFill>
                <a:latin typeface="Calibri"/>
              </a:rPr>
              <a:t>LEAVES WITH</a:t>
            </a:r>
          </a:p>
          <a:p>
            <a:pPr algn="ctr"/>
            <a:r>
              <a:rPr sz="900" b="0">
                <a:solidFill>
                  <a:srgbClr val="16301F"/>
                </a:solidFill>
                <a:latin typeface="Calibri"/>
              </a:rPr>
              <a:t>a set of possible steps,</a:t>
            </a:r>
          </a:p>
          <a:p>
            <a:pPr algn="ctr"/>
            <a:r>
              <a:rPr sz="900" b="0">
                <a:solidFill>
                  <a:srgbClr val="16301F"/>
                </a:solidFill>
                <a:latin typeface="Calibri"/>
              </a:rPr>
              <a:t>such as employers,</a:t>
            </a:r>
          </a:p>
          <a:p>
            <a:pPr algn="ctr"/>
            <a:r>
              <a:rPr sz="900" b="0">
                <a:solidFill>
                  <a:srgbClr val="16301F"/>
                </a:solidFill>
                <a:latin typeface="Calibri"/>
              </a:rPr>
              <a:t>grad school, certifications</a:t>
            </a:r>
          </a:p>
        </p:txBody>
      </p:sp>
      <p:sp>
        <p:nvSpPr>
          <p:cNvPr id="16" name="N · COMES BACK"/>
          <p:cNvSpPr/>
          <p:nvPr/>
        </p:nvSpPr>
        <p:spPr>
          <a:xfrm>
            <a:off x="5486400" y="91211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7F2EA"/>
          </a:solidFill>
          <a:ln w="12700">
            <a:solidFill>
              <a:srgbClr val="3F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>
            <a:noAutofit/>
          </a:bodyPr>
          <a:lstStyle/>
          <a:p>
            <a:pPr algn="ctr"/>
            <a:r>
              <a:rPr sz="900" b="1">
                <a:solidFill>
                  <a:srgbClr val="16301F"/>
                </a:solidFill>
                <a:latin typeface="Calibri"/>
              </a:rPr>
              <a:t>COMES BACK</a:t>
            </a:r>
          </a:p>
          <a:p>
            <a:pPr algn="ctr"/>
            <a:r>
              <a:rPr sz="900" b="0">
                <a:solidFill>
                  <a:srgbClr val="16301F"/>
                </a:solidFill>
                <a:latin typeface="Calibri"/>
              </a:rPr>
              <a:t>picks up where they left off, or starts over</a:t>
            </a:r>
          </a:p>
        </p:txBody>
      </p:sp>
      <p:cxnSp>
        <p:nvCxnSpPr>
          <p:cNvPr id="17" name="A → B"/>
          <p:cNvCxnSpPr>
            <a:stCxn id="2" idx="3"/>
            <a:endCxn id="3" idx="1"/>
          </p:cNvCxnSpPr>
          <p:nvPr/>
        </p:nvCxnSpPr>
        <p:spPr>
          <a:xfrm>
            <a:off x="1600200" y="1051560"/>
            <a:ext cx="365759" cy="0"/>
          </a:xfrm>
          <a:prstGeom prst="straightConnector1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 → C"/>
          <p:cNvCxnSpPr>
            <a:stCxn id="3" idx="3"/>
            <a:endCxn id="4" idx="1"/>
          </p:cNvCxnSpPr>
          <p:nvPr/>
        </p:nvCxnSpPr>
        <p:spPr>
          <a:xfrm>
            <a:off x="4160520" y="1051560"/>
            <a:ext cx="365760" cy="0"/>
          </a:xfrm>
          <a:prstGeom prst="straightConnector1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 → B"/>
          <p:cNvCxnSpPr>
            <a:stCxn id="4" idx="0"/>
            <a:endCxn id="3" idx="0"/>
          </p:cNvCxnSpPr>
          <p:nvPr/>
        </p:nvCxnSpPr>
        <p:spPr>
          <a:xfrm rot="5400000">
            <a:off x="4423410" y="-720090"/>
            <a:ext cx="68580" cy="2788920"/>
          </a:xfrm>
          <a:prstGeom prst="bentConnector3">
            <a:avLst>
              <a:gd name="adj1" fmla="val -400000"/>
            </a:avLst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 → D"/>
          <p:cNvCxnSpPr>
            <a:stCxn id="4" idx="2"/>
            <a:endCxn id="5" idx="0"/>
          </p:cNvCxnSpPr>
          <p:nvPr/>
        </p:nvCxnSpPr>
        <p:spPr>
          <a:xfrm rot="5400000">
            <a:off x="4663440" y="685799"/>
            <a:ext cx="411479" cy="1965960"/>
          </a:xfrm>
          <a:prstGeom prst="bentConnector3">
            <a:avLst>
              <a:gd name="adj1" fmla="val 48889"/>
            </a:avLst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 → E"/>
          <p:cNvCxnSpPr>
            <a:stCxn id="5" idx="2"/>
            <a:endCxn id="7" idx="0"/>
          </p:cNvCxnSpPr>
          <p:nvPr/>
        </p:nvCxnSpPr>
        <p:spPr>
          <a:xfrm>
            <a:off x="3886200" y="3063239"/>
            <a:ext cx="0" cy="411480"/>
          </a:xfrm>
          <a:prstGeom prst="straightConnector1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 → G"/>
          <p:cNvCxnSpPr>
            <a:stCxn id="5" idx="1"/>
            <a:endCxn id="6" idx="0"/>
          </p:cNvCxnSpPr>
          <p:nvPr/>
        </p:nvCxnSpPr>
        <p:spPr>
          <a:xfrm flipH="1">
            <a:off x="1440179" y="2468880"/>
            <a:ext cx="480060" cy="1005840"/>
          </a:xfrm>
          <a:prstGeom prst="bentConnector2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 → F"/>
          <p:cNvCxnSpPr>
            <a:stCxn id="7" idx="3"/>
            <a:endCxn id="8" idx="1"/>
          </p:cNvCxnSpPr>
          <p:nvPr/>
        </p:nvCxnSpPr>
        <p:spPr>
          <a:xfrm>
            <a:off x="4892040" y="3840480"/>
            <a:ext cx="182880" cy="0"/>
          </a:xfrm>
          <a:prstGeom prst="straightConnector1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 → H"/>
          <p:cNvCxnSpPr>
            <a:stCxn id="8" idx="2"/>
            <a:endCxn id="9" idx="3"/>
          </p:cNvCxnSpPr>
          <p:nvPr/>
        </p:nvCxnSpPr>
        <p:spPr>
          <a:xfrm rot="5400000">
            <a:off x="5257800" y="4160520"/>
            <a:ext cx="845819" cy="937260"/>
          </a:xfrm>
          <a:prstGeom prst="bentConnector2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 → H"/>
          <p:cNvCxnSpPr>
            <a:stCxn id="6" idx="2"/>
            <a:endCxn id="9" idx="1"/>
          </p:cNvCxnSpPr>
          <p:nvPr/>
        </p:nvCxnSpPr>
        <p:spPr>
          <a:xfrm rot="5400000" flipV="1">
            <a:off x="1577340" y="4069080"/>
            <a:ext cx="845819" cy="1120139"/>
          </a:xfrm>
          <a:prstGeom prst="bentConnector2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H → I"/>
          <p:cNvCxnSpPr>
            <a:stCxn id="9" idx="2"/>
            <a:endCxn id="10" idx="0"/>
          </p:cNvCxnSpPr>
          <p:nvPr/>
        </p:nvCxnSpPr>
        <p:spPr>
          <a:xfrm>
            <a:off x="3886200" y="5440679"/>
            <a:ext cx="0" cy="320040"/>
          </a:xfrm>
          <a:prstGeom prst="straightConnector1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I → J"/>
          <p:cNvCxnSpPr>
            <a:stCxn id="10" idx="2"/>
            <a:endCxn id="11" idx="0"/>
          </p:cNvCxnSpPr>
          <p:nvPr/>
        </p:nvCxnSpPr>
        <p:spPr>
          <a:xfrm>
            <a:off x="3886200" y="6492240"/>
            <a:ext cx="0" cy="274320"/>
          </a:xfrm>
          <a:prstGeom prst="straightConnector1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J → K"/>
          <p:cNvCxnSpPr>
            <a:stCxn id="11" idx="2"/>
            <a:endCxn id="14" idx="0"/>
          </p:cNvCxnSpPr>
          <p:nvPr/>
        </p:nvCxnSpPr>
        <p:spPr>
          <a:xfrm rot="5400000" flipV="1">
            <a:off x="4091940" y="7338060"/>
            <a:ext cx="548639" cy="960119"/>
          </a:xfrm>
          <a:prstGeom prst="bentConnector3">
            <a:avLst>
              <a:gd name="adj1" fmla="val 50000"/>
            </a:avLst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J → L"/>
          <p:cNvCxnSpPr>
            <a:stCxn id="11" idx="2"/>
            <a:endCxn id="13" idx="0"/>
          </p:cNvCxnSpPr>
          <p:nvPr/>
        </p:nvCxnSpPr>
        <p:spPr>
          <a:xfrm rot="5400000">
            <a:off x="2537460" y="6743700"/>
            <a:ext cx="548639" cy="2148839"/>
          </a:xfrm>
          <a:prstGeom prst="bentConnector3">
            <a:avLst>
              <a:gd name="adj1" fmla="val 50000"/>
            </a:avLst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K → M"/>
          <p:cNvCxnSpPr>
            <a:stCxn id="14" idx="2"/>
            <a:endCxn id="15" idx="0"/>
          </p:cNvCxnSpPr>
          <p:nvPr/>
        </p:nvCxnSpPr>
        <p:spPr>
          <a:xfrm rot="5400000">
            <a:off x="4194810" y="8469630"/>
            <a:ext cx="342900" cy="960119"/>
          </a:xfrm>
          <a:prstGeom prst="bentConnector3">
            <a:avLst>
              <a:gd name="adj1" fmla="val 50667"/>
            </a:avLst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 → M"/>
          <p:cNvCxnSpPr>
            <a:stCxn id="13" idx="2"/>
            <a:endCxn id="15" idx="0"/>
          </p:cNvCxnSpPr>
          <p:nvPr/>
        </p:nvCxnSpPr>
        <p:spPr>
          <a:xfrm rot="5400000" flipV="1">
            <a:off x="2640330" y="7875270"/>
            <a:ext cx="342900" cy="2148839"/>
          </a:xfrm>
          <a:prstGeom prst="bentConnector3">
            <a:avLst>
              <a:gd name="adj1" fmla="val 50667"/>
            </a:avLst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M → N"/>
          <p:cNvCxnSpPr>
            <a:stCxn id="15" idx="3"/>
            <a:endCxn id="16" idx="1"/>
          </p:cNvCxnSpPr>
          <p:nvPr/>
        </p:nvCxnSpPr>
        <p:spPr>
          <a:xfrm>
            <a:off x="5257800" y="9486900"/>
            <a:ext cx="228600" cy="0"/>
          </a:xfrm>
          <a:prstGeom prst="straightConnector1">
            <a:avLst/>
          </a:prstGeom>
          <a:ln w="12700">
            <a:solidFill>
              <a:srgbClr val="5A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I → P (loop)"/>
          <p:cNvCxnSpPr>
            <a:stCxn id="10" idx="3"/>
            <a:endCxn id="12" idx="0"/>
          </p:cNvCxnSpPr>
          <p:nvPr/>
        </p:nvCxnSpPr>
        <p:spPr>
          <a:xfrm>
            <a:off x="5989320" y="6126480"/>
            <a:ext cx="320039" cy="640080"/>
          </a:xfrm>
          <a:prstGeom prst="bentConnector2">
            <a:avLst/>
          </a:prstGeom>
          <a:ln w="12700">
            <a:solidFill>
              <a:srgbClr val="5A5A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K → P (loop)"/>
          <p:cNvCxnSpPr>
            <a:stCxn id="14" idx="3"/>
            <a:endCxn id="12" idx="2"/>
          </p:cNvCxnSpPr>
          <p:nvPr/>
        </p:nvCxnSpPr>
        <p:spPr>
          <a:xfrm flipV="1">
            <a:off x="6126479" y="7543800"/>
            <a:ext cx="182880" cy="891539"/>
          </a:xfrm>
          <a:prstGeom prst="bentConnector2">
            <a:avLst/>
          </a:prstGeom>
          <a:ln w="12700">
            <a:solidFill>
              <a:srgbClr val="5A5A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P → F (loop)"/>
          <p:cNvCxnSpPr>
            <a:stCxn id="12" idx="3"/>
            <a:endCxn id="8" idx="3"/>
          </p:cNvCxnSpPr>
          <p:nvPr/>
        </p:nvCxnSpPr>
        <p:spPr>
          <a:xfrm flipV="1">
            <a:off x="7040879" y="3840480"/>
            <a:ext cx="182880" cy="3314700"/>
          </a:xfrm>
          <a:prstGeom prst="bentConnector3">
            <a:avLst>
              <a:gd name="adj1" fmla="val 225000"/>
            </a:avLst>
          </a:prstGeom>
          <a:ln w="12700">
            <a:solidFill>
              <a:srgbClr val="5A5A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label · keep looking"/>
          <p:cNvSpPr txBox="1"/>
          <p:nvPr/>
        </p:nvSpPr>
        <p:spPr>
          <a:xfrm>
            <a:off x="3931920" y="18288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Calibri"/>
              </a:rPr>
              <a:t>keep looking</a:t>
            </a:r>
          </a:p>
        </p:txBody>
      </p:sp>
      <p:sp>
        <p:nvSpPr>
          <p:cNvPr id="37" name="label · narrow it down"/>
          <p:cNvSpPr txBox="1"/>
          <p:nvPr/>
        </p:nvSpPr>
        <p:spPr>
          <a:xfrm>
            <a:off x="4480560" y="149047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1">
                <a:solidFill>
                  <a:srgbClr val="555555"/>
                </a:solidFill>
                <a:latin typeface="Calibri"/>
              </a:rPr>
              <a:t>narrow it down</a:t>
            </a:r>
          </a:p>
        </p:txBody>
      </p:sp>
      <p:sp>
        <p:nvSpPr>
          <p:cNvPr id="38" name="label · my major, or work I would want"/>
          <p:cNvSpPr txBox="1"/>
          <p:nvPr/>
        </p:nvSpPr>
        <p:spPr>
          <a:xfrm>
            <a:off x="3977639" y="3154680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my major, or work I would want</a:t>
            </a:r>
          </a:p>
        </p:txBody>
      </p:sp>
      <p:sp>
        <p:nvSpPr>
          <p:cNvPr id="39" name="label · a job I am curious about"/>
          <p:cNvSpPr txBox="1"/>
          <p:nvPr/>
        </p:nvSpPr>
        <p:spPr>
          <a:xfrm>
            <a:off x="1508760" y="315468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a job I am curious about</a:t>
            </a:r>
          </a:p>
        </p:txBody>
      </p:sp>
      <p:sp>
        <p:nvSpPr>
          <p:cNvPr id="40" name="label · enough people"/>
          <p:cNvSpPr txBox="1"/>
          <p:nvPr/>
        </p:nvSpPr>
        <p:spPr>
          <a:xfrm>
            <a:off x="4023360" y="7845552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enough people</a:t>
            </a:r>
          </a:p>
        </p:txBody>
      </p:sp>
      <p:sp>
        <p:nvSpPr>
          <p:cNvPr id="41" name="label · too few"/>
          <p:cNvSpPr txBox="1"/>
          <p:nvPr/>
        </p:nvSpPr>
        <p:spPr>
          <a:xfrm>
            <a:off x="2926080" y="784555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 i="1">
                <a:solidFill>
                  <a:srgbClr val="555555"/>
                </a:solidFill>
                <a:latin typeface="Calibri"/>
              </a:rPr>
              <a:t>too few</a:t>
            </a:r>
          </a:p>
        </p:txBody>
      </p:sp>
      <p:sp>
        <p:nvSpPr>
          <p:cNvPr id="42" name="Legend"/>
          <p:cNvSpPr txBox="1"/>
          <p:nvPr/>
        </p:nvSpPr>
        <p:spPr>
          <a:xfrm>
            <a:off x="274320" y="912114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750">
                <a:solidFill>
                  <a:srgbClr val="4A3AA7"/>
                </a:solidFill>
                <a:latin typeface="Calibri"/>
              </a:rPr>
              <a:t>■  </a:t>
            </a:r>
            <a:r>
              <a:rPr sz="750">
                <a:solidFill>
                  <a:srgbClr val="555555"/>
                </a:solidFill>
                <a:latin typeface="Calibri"/>
              </a:rPr>
              <a:t>Something to read</a:t>
            </a:r>
          </a:p>
          <a:p>
            <a:r>
              <a:rPr sz="750">
                <a:solidFill>
                  <a:srgbClr val="9A6524"/>
                </a:solidFill>
                <a:latin typeface="Calibri"/>
              </a:rPr>
              <a:t>■  </a:t>
            </a:r>
            <a:r>
              <a:rPr sz="750">
                <a:solidFill>
                  <a:srgbClr val="555555"/>
                </a:solidFill>
                <a:latin typeface="Calibri"/>
              </a:rPr>
              <a:t>A decision</a:t>
            </a:r>
          </a:p>
          <a:p>
            <a:r>
              <a:rPr sz="750">
                <a:solidFill>
                  <a:srgbClr val="B4552C"/>
                </a:solidFill>
                <a:latin typeface="Calibri"/>
              </a:rPr>
              <a:t>■  </a:t>
            </a:r>
            <a:r>
              <a:rPr sz="750">
                <a:solidFill>
                  <a:srgbClr val="555555"/>
                </a:solidFill>
                <a:latin typeface="Calibri"/>
              </a:rPr>
              <a:t>The moment the data runs thin</a:t>
            </a:r>
          </a:p>
          <a:p>
            <a:r>
              <a:rPr sz="750">
                <a:solidFill>
                  <a:srgbClr val="3F7A52"/>
                </a:solidFill>
                <a:latin typeface="Calibri"/>
              </a:rPr>
              <a:t>■  </a:t>
            </a:r>
            <a:r>
              <a:rPr sz="750">
                <a:solidFill>
                  <a:srgbClr val="555555"/>
                </a:solidFill>
                <a:latin typeface="Calibri"/>
              </a:rPr>
              <a:t>Leaving with something</a:t>
            </a:r>
          </a:p>
          <a:p>
            <a:r>
              <a:rPr sz="750">
                <a:solidFill>
                  <a:srgbClr val="5A5A5A"/>
                </a:solidFill>
                <a:latin typeface="Calibri"/>
              </a:rPr>
              <a:t>- - →  </a:t>
            </a:r>
            <a:r>
              <a:rPr sz="750">
                <a:solidFill>
                  <a:srgbClr val="555555"/>
                </a:solidFill>
                <a:latin typeface="Calibri"/>
              </a:rPr>
              <a:t>Anything named on screen can become the next question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heading"/>
          <p:cNvSpPr txBox="1"/>
          <p:nvPr/>
        </p:nvSpPr>
        <p:spPr>
          <a:xfrm>
            <a:off x="411480" y="36576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 i="0">
                <a:solidFill>
                  <a:srgbClr val="1B1A2E"/>
                </a:solidFill>
                <a:latin typeface="Calibri"/>
              </a:rPr>
              <a:t>What sits under each step</a:t>
            </a:r>
          </a:p>
        </p:txBody>
      </p:sp>
      <p:sp>
        <p:nvSpPr>
          <p:cNvPr id="3" name="Table subheading"/>
          <p:cNvSpPr txBox="1"/>
          <p:nvPr/>
        </p:nvSpPr>
        <p:spPr>
          <a:xfrm>
            <a:off x="411480" y="6400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Every row says what the reader gets, what they decide, which part of the corpus answers it, and what NHA has to write for it.</a:t>
            </a:r>
          </a:p>
        </p:txBody>
      </p:sp>
      <p:graphicFrame>
        <p:nvGraphicFramePr>
          <p:cNvPr id="4" name="What sits under each step"/>
          <p:cNvGraphicFramePr>
            <a:graphicFrameLocks noGrp="1"/>
          </p:cNvGraphicFramePr>
          <p:nvPr/>
        </p:nvGraphicFramePr>
        <p:xfrm>
          <a:off x="411480" y="960120"/>
          <a:ext cx="6949440" cy="35844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1463040"/>
                <a:gridCol w="1051560"/>
                <a:gridCol w="1783080"/>
                <a:gridCol w="1737360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What they read or do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What they decide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The data behind it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What NHA writes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EEF0F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Arrives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One sentence, and a statement of who is actually in this sample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Whether to stay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population itself: 2.0M profiles, 486,000 with a humanities degree, 407,000 followable across fifteen years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opening claim, and the population statement in the same view. Not a mission statement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The whole field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Every kind of work these graduates ended up in, shown at once and not ranked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Narrow, or keep looking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Pooled year-ten destinations. Computed and in the portal today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caption that makes an unranked picture feel like an answer rather than a shrug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Where to start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Three ways in: a major, a description of work they would want, or a job title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Which one, and they can use more than one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Fields of study; eleven first-person descriptions of kinds of work; 13,933 job titles held by ten or more people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eleven descriptions, in a student's voice rather than ours. This is a writing job, not a data job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The guess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A question asked before any number appears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One tap, and skipping is fine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Nothing. This is an interface device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prompt, and the reply for being wrong, written to be encouraging rather than clever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Wrong, and so is everyone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largest single kind of work is about one in eight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Whether to believe it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Destination shares at year ten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gloss. This is where the site's whole argument lives in two sentences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Where could I go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Where people who started here actually were, ten years later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Which destination to open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Origin-to-destination cells, all of which clear the reporting bar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caption, in past tense, about people rather than paths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Who is already doing it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What people in this job studied, and where they started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Which starting point to follow back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same cells read backwards, plus education records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One line explaining that the arrow can be read in both directions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How would I get there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First jobs, elapsed years, what they studied, what they carried, where they worked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Whether this is a route they could take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Career steps at job-title grain; 4.3M title-to-title moves; 1.67M certification records across 545,000 people; employer and location on the steps themselves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Five panel introductions. The order matters more than the wording: what the work is, then how people got in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People like me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same answer for a smaller group, with the count visible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Whether to narrow further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Field of study crossed with start and destination. 98.5% of readers land in a group large enough to describe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rule, in one line: the number on screen is the number this is based on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Not enough people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An honest sentence, and the wider answer already showing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Which condition to give up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Cells below ten people, which are counted but never named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Three sentences, one per rung of widening. These need writing before the screen is built, not after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The far edge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Thousands of specific, odd, real jobs nobody has shown a student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Whether to follow one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638,368 distinct job titles across 355,437 people. 86.4% were held by exactly one person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The line that makes a rare job read as real rather than as a warning. Never the word “only”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Leaves with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A certificate, a graduate step, employers in their state, and a page for an advisor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What to actually do this month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Certifications; graduate enrolments; employer and state, recorded for about half the sample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What each of those choices meant for the people who made it, with the caveat given room rather than hidden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B1A2E"/>
                          </a:solidFill>
                          <a:latin typeface="Calibri"/>
                        </a:rPr>
                        <a:t>Comes back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Where they were last time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Resume, or start over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Held on the device. Nothing is stored about the reader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1A2E"/>
                          </a:solidFill>
                          <a:latin typeface="Calibri"/>
                        </a:rPr>
                        <a:t>One sentence that reads as recognition rather than tracking</a:t>
                      </a:r>
                    </a:p>
                  </a:txBody>
                  <a:tcPr marL="45720" marR="45720" marT="27432" marB="27432" anchor="t">
                    <a:lnL w="6350" cap="flat" cmpd="sng" algn="ctr">
                      <a:solidFill>
                        <a:srgbClr val="C9CCD6"/>
                      </a:solidFill>
                      <a:prstDash val="solid"/>
                    </a:lnL>
                    <a:lnR w="6350" cap="flat" cmpd="sng" algn="ctr">
                      <a:solidFill>
                        <a:srgbClr val="C9CCD6"/>
                      </a:solidFill>
                      <a:prstDash val="solid"/>
                    </a:lnR>
                    <a:lnT w="6350" cap="flat" cmpd="sng" algn="ctr">
                      <a:solidFill>
                        <a:srgbClr val="C9CCD6"/>
                      </a:solidFill>
                      <a:prstDash val="solid"/>
                    </a:lnT>
                    <a:lnB w="6350" cap="flat" cmpd="sng" algn="ctr">
                      <a:solidFill>
                        <a:srgbClr val="C9C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